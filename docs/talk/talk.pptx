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lk" id="{2d400ade-ab5b-f9f9-1d56-1759e31e56a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ackup" id="{18428220-741c-cf0f-f4b2-1468e6a0be35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Calibri"/>
              </a:rPr>
              <a:t>Seconds until the monitor raises the alarm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stages</c:v>
                </c:pt>
              </c:strCache>
            </c:strRef>
          </c:tx>
          <c:spPr>
            <a:solidFill>
              <a:srgbClr val="1F5FAE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Dropped box</c:v>
                  </c:pt>
                  <c:pt idx="1">
                    <c:v>Failed grasp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stages</c:v>
                </c:pt>
              </c:strCache>
            </c:strRef>
          </c:tx>
          <c:spPr>
            <a:solidFill>
              <a:srgbClr val="B8BFC9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Dropped box</c:v>
                  </c:pt>
                  <c:pt idx="1">
                    <c:v>Failed grasp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19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472"/>
                </a:solidFill>
                <a:latin typeface="Calibri"/>
              </a:rPr>
              <a:t>Delivered on time (deadline = 1.5 × normal time)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on time</c:v>
                </c:pt>
              </c:strCache>
            </c:strRef>
          </c:tx>
          <c:spPr>
            <a:solidFill>
              <a:srgbClr val="B8BFC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F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F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F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5F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0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 monitor</c:v>
                  </c:pt>
                  <c:pt idx="1">
                    <c:v>No stages</c:v>
                  </c:pt>
                  <c:pt idx="2">
                    <c:v>LTL only</c:v>
                  </c:pt>
                  <c:pt idx="3">
                    <c:v>With stages</c:v>
                  </c:pt>
                  <c:pt idx="4">
                    <c:v>Hand-written checks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36</c:v>
                </c:pt>
                <c:pt idx="2">
                  <c:v>36</c:v>
                </c:pt>
                <c:pt idx="3">
                  <c:v>64</c:v>
                </c:pt>
                <c:pt idx="4">
                  <c:v>81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Robots fail in the middle of a task and don't know it.
- I build a watcher that catches the failure when it happens.
- About 10 minutes. Backup slides are hidden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 run: the box slipped, the robot walked on and reported success.
- The robot knows what it commanded, not what happened.
- Finding out at the end is late: the time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 stages catch failures earlier, and does that improve success?
- H1 earlier. H2 more success with a deadline. H3 beats hand-written checks.
- H0, said in advance: falls show no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streams: how to describe a skill, and how to watch it run.
- Most work improves one stream.
- Ours: words -&gt; LLM writes stages + rules -&gt; monitor on the robot's sensors.
- Details per paper: hidden backup slides.
TIME CHECK: about 3 minutes here.
If asked "nothing new": nl2spec stops at a formula; ROSMonitoring needs hand-written rules. New = generated monitor with stages, on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LTL: G = always, F = eventually. Each rule becomes a small automaton.
- "Always upright" fails the moment the robot falls.
- "Eventually deliver" can never fail early. That's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stage: must-hold rules, a time limit, progress.
- Carry: "holding" must stay true, so a drop is caught the next second.
- Without stages you can't say "must hold": it is false at the start.
- Written by the LLM from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second: sensors -&gt; facts -&gt; every rule takes one step.
- A stage fails if a must-hold rule breaks, time runs out, or no progress (3 misses).
- This is exactly what the code does.
If asked "one automaton?": no, one monitor: a stage machine beside separate small automata.
If asked "P1 is a tautology": yes, by design. The rule exists only with stages. LTL alone 14 s, stages 1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stage is hidden state: "not holding" is normal while walking, a failure while carrying.
- Early detection helps only with a deadline. Predicted, then measured: 64/36 with, 82/84 without.
- Say first: today the belief is a single point.
TIME CHECK: about 6 minutes here.
If asked "decorative?": I don't solve it; it predicted the deadline effect, including no effect without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LLM writes the spec once; it is checked and frozen before any run.
- Checks: it loads, and every fact maps to a real sensor.
- The monitor reads only sensors, never the planner.
If asked "why trust the LLM?": checked, readable, frozen. Gap: rules that run but are wrong (3 false alarms of 40). Fix: accept a spec only after clean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G1 in MuJoCo, ROS 2, failures caused on purpose.
- Drop: 1 s vs 14 s, because Carry requires holding.
- Grasp: 4 s vs 19 s. Earlier in all 20 runs.
If asked "flat is a straw man": true, an expert could write it in LTL; flat is an ablation. The claim is who writes it: hand-written checks missed 40 of 40.
If asked about statistics: the claim comes from the model; the runs confirm it, 20 of 20. No p-values.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 deadline: everyone about 83%, because a late re-plan still works.
- Deadline: 64% vs 36%. LTL alone: 36%.
- Hand-written checks 81%, but only for failures someone foresaw: they missed 40 of 40 unplanned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hypothesis was written down before the run.
- H1, H2, H3 supported. H0 as predicted.
- Missed: slowness, detours. I report them.
TIME CHECK: about 9 minutes here.
If asked "circular?": the spec came from words, not the faults; unplanned failures 40 -&gt; 0; I report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MiniGrid + MAAOS (done) -&gt; MuJoCo (now) -&gt; Isaac Sim -&gt; real G1.
- Calibrate limits; specs from several LLMs; full POMDP with a camera.
- Stop: "Thank you. Questions?"
If asked "weakest part?": one spec per skill from one LLM; next, several LLMs. The stages work even if a person writes them.
If asked "1 Hz is too slow": not reflex safety; the balance controller handles falls. Task decisions take seconds.
If asked "who chose 0.3/0.5?": not the LLM; "holding" is in the robot dictionary, once per robot. The LLM's own thresholds aren't calibrated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slides: related work, model predictions, unplanned failures, one run, Experiment 1, test beds, demo, references, Q&amp;A cheat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Words to logic (Lang2LTL, nl2spec, NL2TL): stop at a formula, for planning or spec writing. No stages, nothing running on a robot.
- nl2spec: 16 of 36 alone, 31 of 36 with a human fixing it.
- Logic by experts: precise, but a person writes every rule, and the rules are flat.
- Videos/demos: need examples; hard to read or edit.
- Hand-written checks: 81% on foreseen failures, silent on unforeseen ones (40 of 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Bauer 2011: LTL3 (true / false / ?), which we build on. ROSMonitoring, RTAMT: engines for hand-written rules. None knows the task's stages.
- REFLECT explains a failure after the fact. In our MiniGrid pilot a free-text LLM judge gave +0.
- AHA, FailSafe, Foresight: need failure data, give no readable reason.
- Our gap: rules from plain words + task stages + only the robot's own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P1: the rule is checked every tick and fails on the first false tick.
- P2: any unfinished run can still finish, so LTL3 says "?". Spot's automaton: 6 states, no rejecting state.
- P3: the time counter grows each tick; the stage fails at its limit.
- Say it yourself: stages add no expressiveness. G(grasped -&gt; (holding U near_dropoff)) is LTL. The LLM writes it because stages ask "what must stay true here?"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New failures, not covered by the hand-written checks; predictions written before the run.
- Wrong drop-off: the robot's own idea of the drop-off is wrong, so its own check passes.
- 40 of 40 silent -&gt; 0 of 40, no cost elsewhere.
- Missed by everyone: slowness, detours. My "slow" prediction was wrong;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run from the live demo page (seed 0).
- Top: stages, Carry in red. Bottom: the 6-state automaton, still in state 3: it has no failing state.
- The stage catches what LTL alone can't.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- 10 failure types x 20 seeds x 3 versions x 3 reactions = 1800 runs.
- Falls caught in 1-7 s by every version.
- Stalls: with progress check 15/15, flat 14/15, without progress 1/15.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G1 walks with Unitree's own controller.
- "Without stages" = same spec, stages merged into one: same facts, same rules.
- Success is judged by the simulator's truth, which the monitor never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Pilot, now frozen. Continuous MiniGrid with MAAOS (Fouzi's multi-agent project).
- Corrupted plan: re-plan fixes every seed (+1.00). Deadlock: LTL + re-plan recovers every seed (~45 steps).
- Detect only: +0. Free-text LLM judge: +0. Clean runs: no false alarms.
- Say it yourself: scripted plans, not the live MAAOS planner; one rule I wrote was too strict, and I fixed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Demo: open localhost:8080, click "Dropped object: full spec", press Pause at 22 s.
- The page draws the stages and the automaton live, from the monitor's own ROS 2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is a link. Don't read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is a link. Don't read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sheet. Hidden: never shown unless you choose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sheet. Hidden: never shown unless you choose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N. Aburmad · Skill progress monitoring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N. Aburmad · Skill progress monitoring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4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S0004-3702(98)00023-X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proceedings.mlr.press/v229/liu23d.html" TargetMode="External"/><Relationship Id="rId2" Type="http://schemas.openxmlformats.org/officeDocument/2006/relationships/hyperlink" Target="https://doi.org/10.1007/978-3-031-37703-7_18" TargetMode="External"/><Relationship Id="rId3" Type="http://schemas.openxmlformats.org/officeDocument/2006/relationships/hyperlink" Target="https://arxiv.org/abs/2305.07766" TargetMode="External"/><Relationship Id="rId4" Type="http://schemas.openxmlformats.org/officeDocument/2006/relationships/hyperlink" Target="https://doi.org/10.1609/aaai.v37i13.27068" TargetMode="External"/><Relationship Id="rId5" Type="http://schemas.openxmlformats.org/officeDocument/2006/relationships/hyperlink" Target="https://arxiv.org/abs/2512.16770" TargetMode="External"/><Relationship Id="rId6" Type="http://schemas.openxmlformats.org/officeDocument/2006/relationships/hyperlink" Target="https://doi.org/10.1145/2000799.2000800" TargetMode="External"/><Relationship Id="rId7" Type="http://schemas.openxmlformats.org/officeDocument/2006/relationships/hyperlink" Target="https://doi.org/10.1007/s10009-023-00720-3" TargetMode="External"/><Relationship Id="rId8" Type="http://schemas.openxmlformats.org/officeDocument/2006/relationships/hyperlink" Target="https://proceedings.neurips.cc/paper_files/paper/2018/hash/74934548253bcab8490ebd74afed7031-Abstract.html" TargetMode="External"/><Relationship Id="rId9" Type="http://schemas.openxmlformats.org/officeDocument/2006/relationships/hyperlink" Target="https://arxiv.org/abs/2310.07899" TargetMode="Externa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45/2000799.2000800" TargetMode="External"/><Relationship Id="rId2" Type="http://schemas.openxmlformats.org/officeDocument/2006/relationships/hyperlink" Target="https://doi.org/10.1007/978-3-030-63486-5_40" TargetMode="External"/><Relationship Id="rId3" Type="http://schemas.openxmlformats.org/officeDocument/2006/relationships/hyperlink" Target="https://doi.org/10.1007/s10009-023-00720-3" TargetMode="External"/><Relationship Id="rId4" Type="http://schemas.openxmlformats.org/officeDocument/2006/relationships/hyperlink" Target="https://arxiv.org/abs/2604.22384" TargetMode="External"/><Relationship Id="rId5" Type="http://schemas.openxmlformats.org/officeDocument/2006/relationships/hyperlink" Target="https://doi.org/10.1007/978-3-642-29860-8_15" TargetMode="External"/><Relationship Id="rId6" Type="http://schemas.openxmlformats.org/officeDocument/2006/relationships/hyperlink" Target="https://proceedings.mlr.press/v229/liu23g.html" TargetMode="External"/><Relationship Id="rId7" Type="http://schemas.openxmlformats.org/officeDocument/2006/relationships/hyperlink" Target="https://proceedings.iclr.cc/paper_files/paper/2025/hash/70a06501001e1820fd1eb9ee821302d2-Abstract-Conference.html" TargetMode="External"/><Relationship Id="rId8" Type="http://schemas.openxmlformats.org/officeDocument/2006/relationships/hyperlink" Target="https://arxiv.org/abs/2510.01642" TargetMode="External"/><Relationship Id="rId9" Type="http://schemas.openxmlformats.org/officeDocument/2006/relationships/hyperlink" Target="https://arxiv.org/abs/2606.23085" TargetMode="External"/><Relationship Id="rId10" Type="http://schemas.openxmlformats.org/officeDocument/2006/relationships/hyperlink" Target="https://arxiv.org/abs/2605.12651" TargetMode="External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45/2000799.2000800" TargetMode="External"/><Relationship Id="rId2" Type="http://schemas.openxmlformats.org/officeDocument/2006/relationships/hyperlink" Target="https://arxiv.org/abs/2305.07766" TargetMode="External"/><Relationship Id="rId3" Type="http://schemas.openxmlformats.org/officeDocument/2006/relationships/hyperlink" Target="https://doi.org/10.1007/978-3-031-37703-7_18" TargetMode="External"/><Relationship Id="rId4" Type="http://schemas.openxmlformats.org/officeDocument/2006/relationships/hyperlink" Target="https://proceedings.iclr.cc/paper_files/paper/2025/hash/70a06501001e1820fd1eb9ee821302d2-Abstract-Conference.html" TargetMode="External"/><Relationship Id="rId5" Type="http://schemas.openxmlformats.org/officeDocument/2006/relationships/hyperlink" Target="https://arxiv.org/abs/2512.16770" TargetMode="External"/><Relationship Id="rId6" Type="http://schemas.openxmlformats.org/officeDocument/2006/relationships/hyperlink" Target="https://doi.org/10.1007/978-3-030-63486-5_40" TargetMode="External"/><Relationship Id="rId7" Type="http://schemas.openxmlformats.org/officeDocument/2006/relationships/hyperlink" Target="https://doi.org/10.1609/aaai.v37i13.27068" TargetMode="External"/><Relationship Id="rId8" Type="http://schemas.openxmlformats.org/officeDocument/2006/relationships/hyperlink" Target="https://doi.org/10.1016/S0004-3702(98)00023-X" TargetMode="External"/><Relationship Id="rId9" Type="http://schemas.openxmlformats.org/officeDocument/2006/relationships/hyperlink" Target="https://arxiv.org/abs/2605.12651" TargetMode="Externa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0.01642" TargetMode="External"/><Relationship Id="rId2" Type="http://schemas.openxmlformats.org/officeDocument/2006/relationships/hyperlink" Target="https://proceedings.mlr.press/v229/liu23d.html" TargetMode="External"/><Relationship Id="rId3" Type="http://schemas.openxmlformats.org/officeDocument/2006/relationships/hyperlink" Target="https://proceedings.mlr.press/v229/liu23g.html" TargetMode="External"/><Relationship Id="rId4" Type="http://schemas.openxmlformats.org/officeDocument/2006/relationships/hyperlink" Target="https://arxiv.org/abs/2310.07899" TargetMode="External"/><Relationship Id="rId5" Type="http://schemas.openxmlformats.org/officeDocument/2006/relationships/hyperlink" Target="https://doi.org/10.1007/978-3-642-29860-8_15" TargetMode="External"/><Relationship Id="rId6" Type="http://schemas.openxmlformats.org/officeDocument/2006/relationships/hyperlink" Target="https://arxiv.org/abs/2604.22384" TargetMode="External"/><Relationship Id="rId7" Type="http://schemas.openxmlformats.org/officeDocument/2006/relationships/hyperlink" Target="https://proceedings.neurips.cc/paper_files/paper/2018/hash/74934548253bcab8490ebd74afed7031-Abstract.html" TargetMode="External"/><Relationship Id="rId8" Type="http://schemas.openxmlformats.org/officeDocument/2006/relationships/hyperlink" Target="https://doi.org/10.1007/s10009-023-00720-3" TargetMode="External"/><Relationship Id="rId9" Type="http://schemas.openxmlformats.org/officeDocument/2006/relationships/hyperlink" Target="https://arxiv.org/abs/2606.23085" TargetMode="Externa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/>
        </p:nvSpPr>
        <p:spPr>
          <a:xfrm>
            <a:off x="457200" y="11887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progress monitoring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robot failures while they happen</a:t>
            </a:r>
            <a:endParaRPr lang="en-US" sz="1800" dirty="0"/>
          </a:p>
        </p:txBody>
      </p:sp>
      <p:sp>
        <p:nvSpPr>
          <p:cNvPr id="4" name="author"/>
          <p:cNvSpPr txBox="1"/>
          <p:nvPr/>
        </p:nvSpPr>
        <p:spPr>
          <a:xfrm>
            <a:off x="4572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Pinhas Nehoray Aburmad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Ben-Gurion University of the Negev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Ronen Brafman</a:t>
            </a:r>
            <a:endParaRPr lang="en-US" sz="1400" dirty="0"/>
          </a:p>
        </p:txBody>
      </p:sp>
      <p:pic>
        <p:nvPicPr>
          <p:cNvPr id="5" name="Humanoid robot carrying a box" descr="Humanoid robot carrying a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97280"/>
            <a:ext cx="3566160" cy="2233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often fail </a:t>
            </a: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task.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often </a:t>
            </a: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notice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report "done" anyway.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notice the failure </a:t>
            </a:r>
            <a:r>
              <a:rPr lang="en-US" sz="18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it happens</a:t>
            </a: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pic>
        <p:nvPicPr>
          <p:cNvPr id="4" name="Robot reports done while the box is on the floor" descr="Robot reports done while the box is on the fl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257175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57200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says "done" at the drop-off (blue). The box (yellow) is still on the floor.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rq card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3ECF8"/>
          </a:solidFill>
          <a:ln w="12700">
            <a:solidFill>
              <a:srgbClr val="E3ECF8"/>
            </a:solidFill>
            <a:prstDash val="solid"/>
          </a:ln>
        </p:spPr>
      </p:sp>
      <p:sp>
        <p:nvSpPr>
          <p:cNvPr id="4" name="rq"/>
          <p:cNvSpPr txBox="1"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giving the monitor the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skill make it catch failures earlier, and does that improve success?</a:t>
            </a:r>
            <a:endParaRPr lang="en-US" sz="1600" dirty="0"/>
          </a:p>
        </p:txBody>
      </p:sp>
      <p:sp>
        <p:nvSpPr>
          <p:cNvPr id="5" name="bullets"/>
          <p:cNvSpPr txBox="1"/>
          <p:nvPr/>
        </p:nvSpPr>
        <p:spPr>
          <a:xfrm>
            <a:off x="45720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stage failures are caught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deadline,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tasks succeed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without one, no change.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catches failures that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checks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falls (every stage checks them):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ime axis"/>
          <p:cNvSpPr/>
          <p:nvPr/>
        </p:nvSpPr>
        <p:spPr>
          <a:xfrm>
            <a:off x="4937760" y="3383280"/>
            <a:ext cx="365760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text"/>
          <p:cNvSpPr txBox="1"/>
          <p:nvPr/>
        </p:nvSpPr>
        <p:spPr>
          <a:xfrm>
            <a:off x="813816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8" name="fault tick"/>
          <p:cNvSpPr/>
          <p:nvPr/>
        </p:nvSpPr>
        <p:spPr>
          <a:xfrm>
            <a:off x="5303520" y="3218688"/>
            <a:ext cx="0" cy="329184"/>
          </a:xfrm>
          <a:prstGeom prst="line">
            <a:avLst/>
          </a:prstGeom>
          <a:noFill/>
          <a:ln w="38100">
            <a:solidFill>
              <a:srgbClr val="B5503C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4937760" y="3584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200" dirty="0"/>
          </a:p>
        </p:txBody>
      </p:sp>
      <p:sp>
        <p:nvSpPr>
          <p:cNvPr id="10" name="alarm with stages"/>
          <p:cNvSpPr/>
          <p:nvPr/>
        </p:nvSpPr>
        <p:spPr>
          <a:xfrm flipV="1">
            <a:off x="5760720" y="2514600"/>
            <a:ext cx="0" cy="868680"/>
          </a:xfrm>
          <a:prstGeom prst="line">
            <a:avLst/>
          </a:prstGeom>
          <a:noFill/>
          <a:ln w="38100">
            <a:solidFill>
              <a:srgbClr val="1F5FAE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51206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alarm, with stages</a:t>
            </a:r>
            <a:endParaRPr lang="en-US" sz="1200" dirty="0"/>
          </a:p>
        </p:txBody>
      </p:sp>
      <p:sp>
        <p:nvSpPr>
          <p:cNvPr id="12" name="deadline"/>
          <p:cNvSpPr/>
          <p:nvPr/>
        </p:nvSpPr>
        <p:spPr>
          <a:xfrm>
            <a:off x="7315200" y="2606040"/>
            <a:ext cx="0" cy="128016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3" name="text"/>
          <p:cNvSpPr txBox="1"/>
          <p:nvPr/>
        </p:nvSpPr>
        <p:spPr>
          <a:xfrm>
            <a:off x="68580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200" dirty="0"/>
          </a:p>
        </p:txBody>
      </p:sp>
      <p:sp>
        <p:nvSpPr>
          <p:cNvPr id="14" name="alarm without stages"/>
          <p:cNvSpPr/>
          <p:nvPr/>
        </p:nvSpPr>
        <p:spPr>
          <a:xfrm flipV="1">
            <a:off x="8229600" y="2514600"/>
            <a:ext cx="0" cy="868680"/>
          </a:xfrm>
          <a:prstGeom prst="line">
            <a:avLst/>
          </a:prstGeom>
          <a:noFill/>
          <a:ln w="38100">
            <a:solidFill>
              <a:srgbClr val="5B6472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315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alarm, no stages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493776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Re-planning must finish before the deadline.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work: two streams</a:t>
            </a:r>
            <a:endParaRPr lang="en-US" sz="2800" dirty="0"/>
          </a:p>
        </p:txBody>
      </p:sp>
      <p:sp>
        <p:nvSpPr>
          <p:cNvPr id="3" name="stream 1 head"/>
          <p:cNvSpPr txBox="1"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Skill description</a:t>
            </a:r>
            <a:endParaRPr lang="en-US" sz="1600" dirty="0"/>
          </a:p>
        </p:txBody>
      </p:sp>
      <p:sp>
        <p:nvSpPr>
          <p:cNvPr id="4" name="stream 2 head"/>
          <p:cNvSpPr txBox="1"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Skill monitoring</a:t>
            </a:r>
            <a:endParaRPr lang="en-US" sz="1600" dirty="0"/>
          </a:p>
        </p:txBody>
      </p:sp>
      <p:sp>
        <p:nvSpPr>
          <p:cNvPr id="5" name="describe 0"/>
          <p:cNvSpPr/>
          <p:nvPr/>
        </p:nvSpPr>
        <p:spPr>
          <a:xfrm>
            <a:off x="457200" y="14173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6" name="describe 0 text"/>
          <p:cNvSpPr txBox="1"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400" dirty="0"/>
          </a:p>
        </p:txBody>
      </p:sp>
      <p:sp>
        <p:nvSpPr>
          <p:cNvPr id="7" name="describe 1"/>
          <p:cNvSpPr/>
          <p:nvPr/>
        </p:nvSpPr>
        <p:spPr>
          <a:xfrm>
            <a:off x="457200" y="198424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8" name="describe 1 text"/>
          <p:cNvSpPr txBox="1"/>
          <p:nvPr/>
        </p:nvSpPr>
        <p:spPr>
          <a:xfrm>
            <a:off x="45720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logic (LTL, STL)</a:t>
            </a:r>
            <a:endParaRPr lang="en-US" sz="1400" dirty="0"/>
          </a:p>
        </p:txBody>
      </p:sp>
      <p:sp>
        <p:nvSpPr>
          <p:cNvPr id="9" name="describe 2"/>
          <p:cNvSpPr/>
          <p:nvPr/>
        </p:nvSpPr>
        <p:spPr>
          <a:xfrm>
            <a:off x="457200" y="2551176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0" name="describe 2 text"/>
          <p:cNvSpPr txBox="1"/>
          <p:nvPr/>
        </p:nvSpPr>
        <p:spPr>
          <a:xfrm>
            <a:off x="457200" y="2551176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demos</a:t>
            </a:r>
            <a:endParaRPr lang="en-US" sz="1400" dirty="0"/>
          </a:p>
        </p:txBody>
      </p:sp>
      <p:sp>
        <p:nvSpPr>
          <p:cNvPr id="11" name="describe 3"/>
          <p:cNvSpPr/>
          <p:nvPr/>
        </p:nvSpPr>
        <p:spPr>
          <a:xfrm>
            <a:off x="457200" y="3118104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2" name="describe 3 text"/>
          <p:cNvSpPr txBox="1"/>
          <p:nvPr/>
        </p:nvSpPr>
        <p:spPr>
          <a:xfrm>
            <a:off x="457200" y="3118104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code</a:t>
            </a:r>
            <a:endParaRPr lang="en-US" sz="1400" dirty="0"/>
          </a:p>
        </p:txBody>
      </p:sp>
      <p:sp>
        <p:nvSpPr>
          <p:cNvPr id="13" name="monitor 0"/>
          <p:cNvSpPr/>
          <p:nvPr/>
        </p:nvSpPr>
        <p:spPr>
          <a:xfrm>
            <a:off x="5943600" y="14173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14" name="monitor 0 text"/>
          <p:cNvSpPr txBox="1"/>
          <p:nvPr/>
        </p:nvSpPr>
        <p:spPr>
          <a:xfrm>
            <a:off x="59436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 (automata)</a:t>
            </a:r>
            <a:endParaRPr lang="en-US" sz="1400" dirty="0"/>
          </a:p>
        </p:txBody>
      </p:sp>
      <p:sp>
        <p:nvSpPr>
          <p:cNvPr id="15" name="monitor 1"/>
          <p:cNvSpPr/>
          <p:nvPr/>
        </p:nvSpPr>
        <p:spPr>
          <a:xfrm>
            <a:off x="5943600" y="1984248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6" name="monitor 1 text"/>
          <p:cNvSpPr txBox="1"/>
          <p:nvPr/>
        </p:nvSpPr>
        <p:spPr>
          <a:xfrm>
            <a:off x="594360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400" dirty="0"/>
          </a:p>
        </p:txBody>
      </p:sp>
      <p:sp>
        <p:nvSpPr>
          <p:cNvPr id="17" name="monitor 2"/>
          <p:cNvSpPr/>
          <p:nvPr/>
        </p:nvSpPr>
        <p:spPr>
          <a:xfrm>
            <a:off x="5943600" y="2551176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8" name="monitor 2 text"/>
          <p:cNvSpPr txBox="1"/>
          <p:nvPr/>
        </p:nvSpPr>
        <p:spPr>
          <a:xfrm>
            <a:off x="5943600" y="2551176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/ learned detectors</a:t>
            </a:r>
            <a:endParaRPr lang="en-US" sz="1400" dirty="0"/>
          </a:p>
        </p:txBody>
      </p:sp>
      <p:sp>
        <p:nvSpPr>
          <p:cNvPr id="19" name="monitor 3"/>
          <p:cNvSpPr/>
          <p:nvPr/>
        </p:nvSpPr>
        <p:spPr>
          <a:xfrm>
            <a:off x="5943600" y="3118104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20" name="monitor 3 text"/>
          <p:cNvSpPr txBox="1"/>
          <p:nvPr/>
        </p:nvSpPr>
        <p:spPr>
          <a:xfrm>
            <a:off x="5943600" y="3118104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(logic + images)</a:t>
            </a:r>
            <a:endParaRPr lang="en-US" sz="1400" dirty="0"/>
          </a:p>
        </p:txBody>
      </p:sp>
      <p:sp>
        <p:nvSpPr>
          <p:cNvPr id="21" name="bridge"/>
          <p:cNvSpPr/>
          <p:nvPr/>
        </p:nvSpPr>
        <p:spPr>
          <a:xfrm>
            <a:off x="3520440" y="21488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22" name="bridge text"/>
          <p:cNvSpPr txBox="1"/>
          <p:nvPr/>
        </p:nvSpPr>
        <p:spPr>
          <a:xfrm>
            <a:off x="3520440" y="2148840"/>
            <a:ext cx="21031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writes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 rules + stages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3200400" y="1645920"/>
            <a:ext cx="640080" cy="502920"/>
          </a:xfrm>
          <a:prstGeom prst="line">
            <a:avLst/>
          </a:prstGeom>
          <a:noFill/>
          <a:ln w="25400">
            <a:solidFill>
              <a:srgbClr val="1F5FAE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 flipV="1">
            <a:off x="5303520" y="1645920"/>
            <a:ext cx="640080" cy="502920"/>
          </a:xfrm>
          <a:prstGeom prst="line">
            <a:avLst/>
          </a:prstGeom>
          <a:noFill/>
          <a:ln w="25400">
            <a:solidFill>
              <a:srgbClr val="1F5FAE"/>
            </a:solidFill>
            <a:prstDash val="solid"/>
            <a:tailEnd type="triangle"/>
          </a:ln>
        </p:spPr>
      </p:sp>
      <p:sp>
        <p:nvSpPr>
          <p:cNvPr id="25" name="text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 improves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stream. </a:t>
            </a:r>
            <a:r>
              <a:rPr lang="en-US" sz="15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connects them: the description produces the monitor.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what is a monitor?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robot's messages.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over time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written in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LTL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logic of time).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 upright".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becomes a small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"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deliver"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fails early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4" name="Automaton for always upright" descr="Automaton for always up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749040" cy="176925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937760" y="3337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upright" as a state machine. One fall moves it to state 1 (red), forever.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idea: the stages of the task</a:t>
            </a:r>
            <a:endParaRPr lang="en-US" sz="2800" dirty="0"/>
          </a:p>
        </p:txBody>
      </p:sp>
      <p:sp>
        <p:nvSpPr>
          <p:cNvPr id="3" name="text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rules and its own time limit.</a:t>
            </a:r>
            <a:endParaRPr lang="en-US" sz="1700" dirty="0"/>
          </a:p>
        </p:txBody>
      </p:sp>
      <p:sp>
        <p:nvSpPr>
          <p:cNvPr id="4" name="stage 0"/>
          <p:cNvSpPr/>
          <p:nvPr/>
        </p:nvSpPr>
        <p:spPr>
          <a:xfrm>
            <a:off x="57150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5" name="stage 0 text"/>
          <p:cNvSpPr txBox="1"/>
          <p:nvPr/>
        </p:nvSpPr>
        <p:spPr>
          <a:xfrm>
            <a:off x="571500" y="1554480"/>
            <a:ext cx="1417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box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45 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88820" y="2034540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stage 1"/>
          <p:cNvSpPr/>
          <p:nvPr/>
        </p:nvSpPr>
        <p:spPr>
          <a:xfrm>
            <a:off x="221742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8" name="stage 1 text"/>
          <p:cNvSpPr txBox="1"/>
          <p:nvPr/>
        </p:nvSpPr>
        <p:spPr>
          <a:xfrm>
            <a:off x="2217420" y="1554480"/>
            <a:ext cx="1417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634740" y="2034540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0" name="stage 2"/>
          <p:cNvSpPr/>
          <p:nvPr/>
        </p:nvSpPr>
        <p:spPr>
          <a:xfrm>
            <a:off x="386334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11" name="stage 2 text"/>
          <p:cNvSpPr txBox="1"/>
          <p:nvPr/>
        </p:nvSpPr>
        <p:spPr>
          <a:xfrm>
            <a:off x="3863340" y="1554480"/>
            <a:ext cx="1417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 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hold box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280660" y="2034540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tage 3"/>
          <p:cNvSpPr/>
          <p:nvPr/>
        </p:nvSpPr>
        <p:spPr>
          <a:xfrm>
            <a:off x="550926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4" name="stage 3 text"/>
          <p:cNvSpPr txBox="1"/>
          <p:nvPr/>
        </p:nvSpPr>
        <p:spPr>
          <a:xfrm>
            <a:off x="5509260" y="1554480"/>
            <a:ext cx="1417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926580" y="2034540"/>
            <a:ext cx="2286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tage 4"/>
          <p:cNvSpPr/>
          <p:nvPr/>
        </p:nvSpPr>
        <p:spPr>
          <a:xfrm>
            <a:off x="7155180" y="1554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6F2E8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17" name="stage 4 text"/>
          <p:cNvSpPr txBox="1"/>
          <p:nvPr/>
        </p:nvSpPr>
        <p:spPr>
          <a:xfrm>
            <a:off x="7155180" y="1554480"/>
            <a:ext cx="1417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18" name="failure"/>
          <p:cNvSpPr/>
          <p:nvPr/>
        </p:nvSpPr>
        <p:spPr>
          <a:xfrm>
            <a:off x="571500" y="3063240"/>
            <a:ext cx="6355080" cy="502920"/>
          </a:xfrm>
          <a:prstGeom prst="roundRect">
            <a:avLst>
              <a:gd name="adj" fmla="val 14545"/>
            </a:avLst>
          </a:prstGeom>
          <a:solidFill>
            <a:srgbClr val="F6E7E3"/>
          </a:solidFill>
          <a:ln w="12700">
            <a:solidFill>
              <a:srgbClr val="B5503C"/>
            </a:solidFill>
            <a:prstDash val="solid"/>
          </a:ln>
        </p:spPr>
      </p:sp>
      <p:sp>
        <p:nvSpPr>
          <p:cNvPr id="19" name="failure text"/>
          <p:cNvSpPr txBox="1"/>
          <p:nvPr/>
        </p:nvSpPr>
        <p:spPr>
          <a:xfrm>
            <a:off x="571500" y="3063240"/>
            <a:ext cx="6355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</a:t>
            </a:r>
            <a:r>
              <a:rPr lang="en-US" sz="1400" dirty="0">
                <a:solidFill>
                  <a:srgbClr val="B5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rule broke, too slow, or stuck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1280160" y="2514600"/>
            <a:ext cx="0" cy="548640"/>
          </a:xfrm>
          <a:prstGeom prst="line">
            <a:avLst/>
          </a:prstGeom>
          <a:noFill/>
          <a:ln w="19050">
            <a:solidFill>
              <a:srgbClr val="B5503C"/>
            </a:solidFill>
            <a:prstDash val="dash"/>
            <a:tailEnd type="triangle"/>
          </a:ln>
        </p:spPr>
      </p:sp>
      <p:sp>
        <p:nvSpPr>
          <p:cNvPr id="21" name="arrow"/>
          <p:cNvSpPr/>
          <p:nvPr/>
        </p:nvSpPr>
        <p:spPr>
          <a:xfrm>
            <a:off x="2926080" y="2514600"/>
            <a:ext cx="0" cy="548640"/>
          </a:xfrm>
          <a:prstGeom prst="line">
            <a:avLst/>
          </a:prstGeom>
          <a:noFill/>
          <a:ln w="19050">
            <a:solidFill>
              <a:srgbClr val="B5503C"/>
            </a:solidFill>
            <a:prstDash val="dash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4572000" y="2514600"/>
            <a:ext cx="0" cy="548640"/>
          </a:xfrm>
          <a:prstGeom prst="line">
            <a:avLst/>
          </a:prstGeom>
          <a:noFill/>
          <a:ln w="19050">
            <a:solidFill>
              <a:srgbClr val="B5503C"/>
            </a:solidFill>
            <a:prstDash val="dash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6217920" y="2514600"/>
            <a:ext cx="0" cy="548640"/>
          </a:xfrm>
          <a:prstGeom prst="line">
            <a:avLst/>
          </a:prstGeom>
          <a:noFill/>
          <a:ln w="19050">
            <a:solidFill>
              <a:srgbClr val="B5503C"/>
            </a:solidFill>
            <a:prstDash val="dash"/>
            <a:tailEnd type="triangle"/>
          </a:ln>
        </p:spPr>
      </p:sp>
      <p:sp>
        <p:nvSpPr>
          <p:cNvPr id="24" name="text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carrying, the robot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hold the box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drop is caught </a:t>
            </a: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model: specification and monitor</a:t>
            </a:r>
            <a:endParaRPr lang="en-US" sz="2800" dirty="0"/>
          </a:p>
        </p:txBody>
      </p:sp>
      <p:sp>
        <p:nvSpPr>
          <p:cNvPr id="3" name="lines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Labelling: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tick, σₜ = L(oₜ) ⊆ AP (true facts from sensors).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= ⟨AP, Φ, M, Π, succ, fail⟩: LTL task rules Φ, safety rules M, phases Π.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πᵢ = ⟨enterᵢ, invᵢ, progᵢ, exitᵢ, Tᵢ, kᵢ⟩.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state: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= ⟨i, c, v, q₁…qₙ⟩ (phase, time in it, progress misses, rule states).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 σ: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rule steps, qⱼ ← δⱼ(qⱼ, σ); </a:t>
            </a:r>
            <a:r>
              <a:rPr lang="en-US" sz="14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σ ⊭ invᵢ or c ≥ Tᵢ or v ≥ kᵢ; next phase if σ ⊨ exitᵢ.</a:t>
            </a:r>
            <a:endParaRPr lang="en-US" sz="1400" dirty="0"/>
          </a:p>
        </p:txBody>
      </p:sp>
      <p:sp>
        <p:nvSpPr>
          <p:cNvPr id="4" name="tick step 0"/>
          <p:cNvSpPr/>
          <p:nvPr/>
        </p:nvSpPr>
        <p:spPr>
          <a:xfrm>
            <a:off x="5760720" y="10972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5" name="tick step 0 text"/>
          <p:cNvSpPr txBox="1"/>
          <p:nvPr/>
        </p:nvSpPr>
        <p:spPr>
          <a:xfrm>
            <a:off x="576072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messages oₜ</a:t>
            </a:r>
            <a:endParaRPr lang="en-US" sz="1300" dirty="0"/>
          </a:p>
        </p:txBody>
      </p:sp>
      <p:sp>
        <p:nvSpPr>
          <p:cNvPr id="6" name="tick step 1"/>
          <p:cNvSpPr/>
          <p:nvPr/>
        </p:nvSpPr>
        <p:spPr>
          <a:xfrm>
            <a:off x="5760720" y="19202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7" name="tick step 1 text"/>
          <p:cNvSpPr txBox="1"/>
          <p:nvPr/>
        </p:nvSpPr>
        <p:spPr>
          <a:xfrm>
            <a:off x="576072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σₜ = L(oₜ)</a:t>
            </a:r>
            <a:endParaRPr lang="en-US" sz="1300" dirty="0"/>
          </a:p>
        </p:txBody>
      </p:sp>
      <p:sp>
        <p:nvSpPr>
          <p:cNvPr id="8" name="tick step 2"/>
          <p:cNvSpPr/>
          <p:nvPr/>
        </p:nvSpPr>
        <p:spPr>
          <a:xfrm>
            <a:off x="5760720" y="2743200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9" name="tick step 2 text"/>
          <p:cNvSpPr txBox="1"/>
          <p:nvPr/>
        </p:nvSpPr>
        <p:spPr>
          <a:xfrm>
            <a:off x="5760720" y="2743200"/>
            <a:ext cx="29260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check: invᵢ, Tᵢ, kᵢ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qⱼ ← δⱼ(qⱼ, σₜ)</a:t>
            </a:r>
            <a:endParaRPr lang="en-US" sz="1300" dirty="0"/>
          </a:p>
        </p:txBody>
      </p:sp>
      <p:sp>
        <p:nvSpPr>
          <p:cNvPr id="10" name="tick step 3"/>
          <p:cNvSpPr/>
          <p:nvPr/>
        </p:nvSpPr>
        <p:spPr>
          <a:xfrm>
            <a:off x="5760720" y="35661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6E7E3"/>
          </a:solidFill>
          <a:ln w="12700">
            <a:solidFill>
              <a:srgbClr val="B5503C"/>
            </a:solidFill>
            <a:prstDash val="solid"/>
          </a:ln>
        </p:spPr>
      </p:sp>
      <p:sp>
        <p:nvSpPr>
          <p:cNvPr id="11" name="tick step 3 text"/>
          <p:cNvSpPr txBox="1"/>
          <p:nvPr/>
        </p:nvSpPr>
        <p:spPr>
          <a:xfrm>
            <a:off x="576072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→ action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7223760" y="1600200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7223760" y="2423160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7223760" y="3364992"/>
            <a:ext cx="0" cy="20116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text"/>
          <p:cNvSpPr txBox="1"/>
          <p:nvPr/>
        </p:nvSpPr>
        <p:spPr>
          <a:xfrm>
            <a:off x="57607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 of the monitor (1 Hz).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view: a POMDP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51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really happens (stage, box held?).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o: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robot's messages.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best guess of 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continue, stop, or re-plan.</a:t>
            </a:r>
            <a:endParaRPr lang="en-US" sz="1500" dirty="0"/>
          </a:p>
        </p:txBody>
      </p:sp>
      <p:sp>
        <p:nvSpPr>
          <p:cNvPr id="4" name="formula card"/>
          <p:cNvSpPr/>
          <p:nvPr/>
        </p:nvSpPr>
        <p:spPr>
          <a:xfrm>
            <a:off x="457200" y="26974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belief update"/>
          <p:cNvSpPr txBox="1"/>
          <p:nvPr/>
        </p:nvSpPr>
        <p:spPr>
          <a:xfrm>
            <a:off x="45720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b′(s′) ∝ Z(o | s′) · Σₛ T(s′ | s, a) · b(s)</a:t>
            </a:r>
            <a:endParaRPr lang="en-US" sz="1700" dirty="0"/>
          </a:p>
        </p:txBody>
      </p:sp>
      <p:sp>
        <p:nvSpPr>
          <p:cNvPr id="6" name="lines"/>
          <p:cNvSpPr txBox="1"/>
          <p:nvPr/>
        </p:nvSpPr>
        <p:spPr>
          <a:xfrm>
            <a:off x="457200" y="3383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point belief (stage + rule states).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information: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time only if latency + recovery ≤ time left.</a:t>
            </a:r>
            <a:endParaRPr lang="en-US" sz="1500" dirty="0"/>
          </a:p>
        </p:txBody>
      </p:sp>
      <p:sp>
        <p:nvSpPr>
          <p:cNvPr id="7" name="pomdp 0"/>
          <p:cNvSpPr/>
          <p:nvPr/>
        </p:nvSpPr>
        <p:spPr>
          <a:xfrm>
            <a:off x="5943600" y="10058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6E7E3"/>
          </a:solidFill>
          <a:ln w="12700">
            <a:solidFill>
              <a:srgbClr val="B5503C"/>
            </a:solidFill>
            <a:prstDash val="solid"/>
          </a:ln>
        </p:spPr>
      </p:sp>
      <p:sp>
        <p:nvSpPr>
          <p:cNvPr id="8" name="pomdp 0 text"/>
          <p:cNvSpPr txBox="1"/>
          <p:nvPr/>
        </p:nvSpPr>
        <p:spPr>
          <a:xfrm>
            <a:off x="594360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stage, box held?</a:t>
            </a:r>
            <a:endParaRPr lang="en-US" sz="1200" dirty="0"/>
          </a:p>
        </p:txBody>
      </p:sp>
      <p:sp>
        <p:nvSpPr>
          <p:cNvPr id="9" name="pomdp 1"/>
          <p:cNvSpPr/>
          <p:nvPr/>
        </p:nvSpPr>
        <p:spPr>
          <a:xfrm>
            <a:off x="5943600" y="17830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0" name="pomdp 1 text"/>
          <p:cNvSpPr txBox="1"/>
          <p:nvPr/>
        </p:nvSpPr>
        <p:spPr>
          <a:xfrm>
            <a:off x="594360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robot messages</a:t>
            </a:r>
            <a:endParaRPr lang="en-US" sz="1200" dirty="0"/>
          </a:p>
        </p:txBody>
      </p:sp>
      <p:sp>
        <p:nvSpPr>
          <p:cNvPr id="11" name="pomdp 2"/>
          <p:cNvSpPr/>
          <p:nvPr/>
        </p:nvSpPr>
        <p:spPr>
          <a:xfrm>
            <a:off x="5943600" y="25603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12" name="pomdp 2 text"/>
          <p:cNvSpPr txBox="1"/>
          <p:nvPr/>
        </p:nvSpPr>
        <p:spPr>
          <a:xfrm>
            <a:off x="594360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rule states</a:t>
            </a:r>
            <a:endParaRPr lang="en-US" sz="1200" dirty="0"/>
          </a:p>
        </p:txBody>
      </p:sp>
      <p:sp>
        <p:nvSpPr>
          <p:cNvPr id="13" name="pomdp 3"/>
          <p:cNvSpPr/>
          <p:nvPr/>
        </p:nvSpPr>
        <p:spPr>
          <a:xfrm>
            <a:off x="5943600" y="33375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4" name="pomdp 3 text"/>
          <p:cNvSpPr txBox="1"/>
          <p:nvPr/>
        </p:nvSpPr>
        <p:spPr>
          <a:xfrm>
            <a:off x="59436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/ stop / re-plan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7315200" y="1554480"/>
            <a:ext cx="0" cy="2286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text"/>
          <p:cNvSpPr txBox="1"/>
          <p:nvPr/>
        </p:nvSpPr>
        <p:spPr>
          <a:xfrm>
            <a:off x="7406640" y="15361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17" name="arrow"/>
          <p:cNvSpPr/>
          <p:nvPr/>
        </p:nvSpPr>
        <p:spPr>
          <a:xfrm>
            <a:off x="7315200" y="2331720"/>
            <a:ext cx="0" cy="2286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text"/>
          <p:cNvSpPr txBox="1"/>
          <p:nvPr/>
        </p:nvSpPr>
        <p:spPr>
          <a:xfrm>
            <a:off x="7406640" y="23134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19" name="arrow"/>
          <p:cNvSpPr/>
          <p:nvPr/>
        </p:nvSpPr>
        <p:spPr>
          <a:xfrm>
            <a:off x="7315200" y="3108960"/>
            <a:ext cx="0" cy="2286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text"/>
          <p:cNvSpPr txBox="1"/>
          <p:nvPr/>
        </p:nvSpPr>
        <p:spPr>
          <a:xfrm>
            <a:off x="7406640" y="309067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21" name="arrow"/>
          <p:cNvSpPr/>
          <p:nvPr/>
        </p:nvSpPr>
        <p:spPr>
          <a:xfrm flipH="1">
            <a:off x="5669280" y="3611880"/>
            <a:ext cx="27432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22" name="arrow"/>
          <p:cNvSpPr/>
          <p:nvPr/>
        </p:nvSpPr>
        <p:spPr>
          <a:xfrm flipV="1">
            <a:off x="5669280" y="1280160"/>
            <a:ext cx="0" cy="233172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23" name="arrow"/>
          <p:cNvSpPr/>
          <p:nvPr/>
        </p:nvSpPr>
        <p:spPr>
          <a:xfrm>
            <a:off x="5669280" y="1280160"/>
            <a:ext cx="27432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4" name="text"/>
          <p:cNvSpPr txBox="1"/>
          <p:nvPr/>
        </p:nvSpPr>
        <p:spPr>
          <a:xfrm>
            <a:off x="5440680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5" name="citation"/>
          <p:cNvSpPr txBox="1"/>
          <p:nvPr/>
        </p:nvSpPr>
        <p:spPr>
          <a:xfrm>
            <a:off x="548640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[Planning and Acting in Partially Observable Stochastic Domains, Kaelbling, Littman, Cassandra, 1998]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how the monitor is built and run</a:t>
            </a:r>
            <a:endParaRPr lang="en-US" sz="2800" dirty="0"/>
          </a:p>
        </p:txBody>
      </p:sp>
      <p:sp>
        <p:nvSpPr>
          <p:cNvPr id="3" name="method 0"/>
          <p:cNvSpPr/>
          <p:nvPr/>
        </p:nvSpPr>
        <p:spPr>
          <a:xfrm>
            <a:off x="539496" y="109728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4" name="method 0 text"/>
          <p:cNvSpPr txBox="1"/>
          <p:nvPr/>
        </p:nvSpPr>
        <p:spPr>
          <a:xfrm>
            <a:off x="539496" y="1097280"/>
            <a:ext cx="148132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 words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to the box, pick it up"</a:t>
            </a:r>
            <a:endParaRPr lang="en-US" sz="1200" dirty="0"/>
          </a:p>
        </p:txBody>
      </p:sp>
      <p:sp>
        <p:nvSpPr>
          <p:cNvPr id="5" name="arrow"/>
          <p:cNvSpPr/>
          <p:nvPr/>
        </p:nvSpPr>
        <p:spPr>
          <a:xfrm>
            <a:off x="2020824" y="160020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" name="method 1"/>
          <p:cNvSpPr/>
          <p:nvPr/>
        </p:nvSpPr>
        <p:spPr>
          <a:xfrm>
            <a:off x="2185416" y="109728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7" name="method 1 text"/>
          <p:cNvSpPr txBox="1"/>
          <p:nvPr/>
        </p:nvSpPr>
        <p:spPr>
          <a:xfrm>
            <a:off x="2185416" y="1097280"/>
            <a:ext cx="148132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stages and rules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3666744" y="160020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method 2"/>
          <p:cNvSpPr/>
          <p:nvPr/>
        </p:nvSpPr>
        <p:spPr>
          <a:xfrm>
            <a:off x="3831336" y="109728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0" name="method 2 text"/>
          <p:cNvSpPr txBox="1"/>
          <p:nvPr/>
        </p:nvSpPr>
        <p:spPr>
          <a:xfrm>
            <a:off x="3831336" y="1097280"/>
            <a:ext cx="148132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tool)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state machines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5312664" y="160020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method 3"/>
          <p:cNvSpPr/>
          <p:nvPr/>
        </p:nvSpPr>
        <p:spPr>
          <a:xfrm>
            <a:off x="5477256" y="109728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13" name="method 3 text"/>
          <p:cNvSpPr txBox="1"/>
          <p:nvPr/>
        </p:nvSpPr>
        <p:spPr>
          <a:xfrm>
            <a:off x="5477256" y="1097280"/>
            <a:ext cx="148132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once a second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6958584" y="160020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method 4"/>
          <p:cNvSpPr/>
          <p:nvPr/>
        </p:nvSpPr>
        <p:spPr>
          <a:xfrm>
            <a:off x="7123176" y="109728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6E7E3"/>
          </a:solidFill>
          <a:ln w="12700">
            <a:solidFill>
              <a:srgbClr val="B5503C"/>
            </a:solidFill>
            <a:prstDash val="solid"/>
          </a:ln>
        </p:spPr>
      </p:sp>
      <p:sp>
        <p:nvSpPr>
          <p:cNvPr id="16" name="method 4 text"/>
          <p:cNvSpPr txBox="1"/>
          <p:nvPr/>
        </p:nvSpPr>
        <p:spPr>
          <a:xfrm>
            <a:off x="7123176" y="1097280"/>
            <a:ext cx="148132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stop or re-plan</a:t>
            </a:r>
            <a:endParaRPr lang="en-US" sz="1200" dirty="0"/>
          </a:p>
        </p:txBody>
      </p:sp>
      <p:sp>
        <p:nvSpPr>
          <p:cNvPr id="17" name="robot messages"/>
          <p:cNvSpPr/>
          <p:nvPr/>
        </p:nvSpPr>
        <p:spPr>
          <a:xfrm>
            <a:off x="4480560" y="25146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8" name="robot messages text"/>
          <p:cNvSpPr txBox="1"/>
          <p:nvPr/>
        </p:nvSpPr>
        <p:spPr>
          <a:xfrm>
            <a:off x="448056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messages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(ROS 2): position, laser, box position</a:t>
            </a:r>
            <a:endParaRPr lang="en-US" sz="1200" dirty="0"/>
          </a:p>
        </p:txBody>
      </p:sp>
      <p:sp>
        <p:nvSpPr>
          <p:cNvPr id="19" name="arrow"/>
          <p:cNvSpPr/>
          <p:nvPr/>
        </p:nvSpPr>
        <p:spPr>
          <a:xfrm flipV="1">
            <a:off x="6217920" y="2103120"/>
            <a:ext cx="0" cy="4114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bullets"/>
          <p:cNvSpPr txBox="1"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written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the task in words.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uses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sensors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never asks the planner.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fetch and deliver (3360 runs)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humanoid in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over ROS 2.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dropped: caught after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stages, 14 s without.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failed: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19 s.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runs.</a:t>
            </a:r>
            <a:endParaRPr lang="en-US" sz="1700" dirty="0"/>
          </a:p>
        </p:txBody>
      </p:sp>
      <p:graphicFrame>
        <p:nvGraphicFramePr>
          <p:cNvPr id="4" name="latency chart" descr=""/>
          <p:cNvGraphicFramePr/>
          <p:nvPr/>
        </p:nvGraphicFramePr>
        <p:xfrm>
          <a:off x="4206240" y="1051560"/>
          <a:ext cx="4480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20624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(median) of 20 runs for each failure.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catching early matter?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limit: all monitors ≈ 82–84%.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time limit: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stages, 36% without.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checks: 81%, but someone must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every failure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graphicFrame>
        <p:nvGraphicFramePr>
          <p:cNvPr id="4" name="deadline chart" descr=""/>
          <p:cNvGraphicFramePr/>
          <p:nvPr/>
        </p:nvGraphicFramePr>
        <p:xfrm>
          <a:off x="4023360" y="105156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023360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runs per bar. Early knowledge pays when time matters.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and results</a:t>
            </a:r>
            <a:endParaRPr lang="en-US" sz="2800" dirty="0"/>
          </a:p>
        </p:txBody>
      </p:sp>
      <p:graphicFrame>
        <p:nvGraphicFramePr>
          <p:cNvPr id="13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earlier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1 vs. 14 s; grasp 4 vs. 19 s; 20 of 20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H2: more on-time 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 vs. 36% with a deadline; 82% vs. 84% without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H3: beyond hand-written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of 40 missed → 0 of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H0: falls 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 in every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predicted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caught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slow, detours, skipped pick-up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done</a:t>
            </a:r>
            <a:endParaRPr lang="en-US" sz="2800" dirty="0"/>
          </a:p>
        </p:txBody>
      </p:sp>
      <p:sp>
        <p:nvSpPr>
          <p:cNvPr id="3" name="platform 0"/>
          <p:cNvSpPr/>
          <p:nvPr/>
        </p:nvSpPr>
        <p:spPr>
          <a:xfrm>
            <a:off x="457200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6F2E8"/>
          </a:solidFill>
          <a:ln w="12700">
            <a:solidFill>
              <a:srgbClr val="8DB596"/>
            </a:solidFill>
            <a:prstDash val="solid"/>
          </a:ln>
        </p:spPr>
      </p:sp>
      <p:sp>
        <p:nvSpPr>
          <p:cNvPr id="4" name="platform 0 text"/>
          <p:cNvSpPr txBox="1"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MiniGrid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MAAOS (done)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286000" y="1508760"/>
            <a:ext cx="30175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" name="platform 1"/>
          <p:cNvSpPr/>
          <p:nvPr/>
        </p:nvSpPr>
        <p:spPr>
          <a:xfrm>
            <a:off x="2587752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3ECF8"/>
          </a:solidFill>
          <a:ln w="25400">
            <a:solidFill>
              <a:srgbClr val="1F5FAE"/>
            </a:solidFill>
            <a:prstDash val="solid"/>
          </a:ln>
        </p:spPr>
      </p:sp>
      <p:sp>
        <p:nvSpPr>
          <p:cNvPr id="7" name="platform 1 text"/>
          <p:cNvSpPr txBox="1"/>
          <p:nvPr/>
        </p:nvSpPr>
        <p:spPr>
          <a:xfrm>
            <a:off x="2587752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G1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416552" y="1508760"/>
            <a:ext cx="30175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platform 2"/>
          <p:cNvSpPr/>
          <p:nvPr/>
        </p:nvSpPr>
        <p:spPr>
          <a:xfrm>
            <a:off x="4718304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0" name="platform 2 text"/>
          <p:cNvSpPr txBox="1"/>
          <p:nvPr/>
        </p:nvSpPr>
        <p:spPr>
          <a:xfrm>
            <a:off x="4718304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(next)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547104" y="1508760"/>
            <a:ext cx="30175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platform 3"/>
          <p:cNvSpPr/>
          <p:nvPr/>
        </p:nvSpPr>
        <p:spPr>
          <a:xfrm>
            <a:off x="6848856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EF1F5"/>
          </a:solidFill>
          <a:ln w="12700">
            <a:solidFill>
              <a:srgbClr val="C5CCD6"/>
            </a:solidFill>
            <a:prstDash val="solid"/>
          </a:ln>
        </p:spPr>
      </p:sp>
      <p:sp>
        <p:nvSpPr>
          <p:cNvPr id="13" name="platform 3 text"/>
          <p:cNvSpPr txBox="1"/>
          <p:nvPr/>
        </p:nvSpPr>
        <p:spPr>
          <a:xfrm>
            <a:off x="6848856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TRAV navigation</a:t>
            </a:r>
            <a:endParaRPr lang="en-US" sz="1400" dirty="0"/>
          </a:p>
        </p:txBody>
      </p:sp>
      <p:sp>
        <p:nvSpPr>
          <p:cNvPr id="14" name="bullets"/>
          <p:cNvSpPr txBox="1"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we found: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time limits; progress toward each stage's goal.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tests: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tasks, more rule sets, specs from several LLMs.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POMDP: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camera, real probabilities, best decisions.</a:t>
            </a:r>
            <a:endParaRPr lang="en-US" sz="1600" dirty="0"/>
          </a:p>
        </p:txBody>
      </p:sp>
      <p:sp>
        <p:nvSpPr>
          <p:cNvPr id="15" name="text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today: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grasp and camera are simulated; thresholds not tuned.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</a:t>
            </a:r>
            <a:endParaRPr lang="en-US" sz="3600" dirty="0"/>
          </a:p>
        </p:txBody>
      </p:sp>
      <p:sp>
        <p:nvSpPr>
          <p:cNvPr id="3" name="text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Hidden. Jump here only to answer a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1: describing a skill</a:t>
            </a:r>
            <a:endParaRPr lang="en-US" sz="2800" dirty="0"/>
          </a:p>
        </p:txBody>
      </p:sp>
      <p:graphicFrame>
        <p:nvGraphicFramePr>
          <p:cNvPr id="16" name="str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[Grounding Complex Natural Language Commands for Temporal Tasks in Unseen Environments, Liu et al.,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[nl2spec: Interactively Translating Unstructured Natural Language to Temporal Logics with LLMs, Cosler et al.,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[NL2TL: Transforming Natural Languages to Temporal Logics using LLMs, Chen et al.,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[NL2LTL: A Python Package for Converting Natural Language Instructions to LTL Formulas, Fuggitti, Chakraborti,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[GinSign: Grounding Natural Language Into System Signatures for Temporal Logic Translation, English et al., 2025]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for planning or writing specs; no stages; words must be tied to sensors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logic (LTL, STL)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[Runtime Verification for LTL and TLTL, Bauer, Leucker, Schallhart, 2011]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[RTAMT: Runtime Robustness Monitors with Application to CPS and Robotics, Yamaguchi, Hoxha, Ničković, 2024]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expert writes every rule; flat rules, no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 / demos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[Learning Task Specifications from Demonstrations, Vazquez-Chanlatte et al., 2018]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[RoboCLIP: One Demonstration is Enough to Learn Robot Policies, Sontakke et al.,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examples; the result is hard to read or 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baseline: checks written inside the robot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must foresee every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2: monitoring a skill</a:t>
            </a:r>
            <a:endParaRPr lang="en-US" sz="2800" dirty="0"/>
          </a:p>
        </p:txBody>
      </p:sp>
      <p:graphicFrame>
        <p:nvGraphicFramePr>
          <p:cNvPr id="17" name="str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[Runtime Verification for LTL and TLTL, Bauer, Leucker, Schallhart, 2011]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[ROSMonitoring: A Runtime Verification Framework for ROS, Ferrando et al., 2020]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[RTAMT: Runtime Robustness Monitors with Application to CPS and Robotics, Yamaguchi, Hoxha, Ničković, 2024]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[Reelay: Online Temporal Logic Monitoring Framework, Ulus, 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[Runtime Verification with State Estimation, Stoller et al., 2011]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stages: "eventually" waits to the end; rules by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[REFLECT: Summarizing Robot Experiences for Failure Explanation and Correction, Liu, Bahety, Song, 2023]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Slow; can be wrong; says "wrong", not "where"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/ learned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[AHA: A Vision-Language-Model for Detecting and Reasoning Over Failures in Robotic Manipulation, Duan et al., 2025]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[FailSafe: Reasoning and Recovery from Failures in VLA Models, Lin et al., 2025]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[Foresight: Failure Detection for Long-Horizon Robotic Manipulation, Zhang et al., 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training data; black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[Runtime Monitoring of Perception-Based Autonomous Systems via Embedding Temporal Logic, Kapoor et al., 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55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not human-readable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vs. measurements</a:t>
            </a:r>
            <a:endParaRPr lang="en-US" sz="2800" dirty="0"/>
          </a:p>
        </p:txBody>
      </p:sp>
      <p:graphicFrame>
        <p:nvGraphicFramePr>
          <p:cNvPr id="18" name="predi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(from the 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P1. A broken stage rule fails at the tick it is seen.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caught at once.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tick (20 of 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P2. "Eventually" rules have no failing state.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LTL alone misses the drop until the end.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LTL only: 14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P3. A stuck stage fails within its time limit.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grasp caught by Grasp's 10 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5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ticks vs. 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P4. "Holding" can't be a whole-task rule.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spec sees the drop only at the end.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Flat: 14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P5. Rules every stage shares are in the flat spec too.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Falls: no difference.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tick, all versions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follow from the model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they are not a lucky outcome.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nobody planned for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left at the wrong place; robot too close to a wall.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checks: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of 40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missed.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monitor: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40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missed.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by all: too slow, or a long detour.</a:t>
            </a:r>
            <a:endParaRPr lang="en-US" sz="1700" dirty="0"/>
          </a:p>
        </p:txBody>
      </p:sp>
      <p:pic>
        <p:nvPicPr>
          <p:cNvPr id="4" name="Box far from the drop-off" descr="Box far from the drop-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257175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57200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is far from the drop-off (blue), yet the robot says "done". Our monitor catches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run, second by second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 s: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box drops.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s: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Carry rule breaks. Alarm.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LTL rule still waits: "maybe later".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caught it.</a:t>
            </a:r>
            <a:endParaRPr lang="en-US" sz="1700" dirty="0"/>
          </a:p>
        </p:txBody>
      </p:sp>
      <p:pic>
        <p:nvPicPr>
          <p:cNvPr id="4" name="Live demo stage and automaton view" descr="Live demo stage and automaton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3995928" cy="3176413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48056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live demo (one run). The current stage and state are lit.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a short walk (1800 runs)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helped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here: 15 vs. 14 of 15 stalls caught.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mattered: measure progress </a:t>
            </a:r>
            <a:r>
              <a:rPr lang="en-US" sz="17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robot's sensors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that: only </a:t>
            </a: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15</a:t>
            </a: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caught.</a:t>
            </a:r>
            <a:endParaRPr lang="en-US" sz="1700" dirty="0"/>
          </a:p>
        </p:txBody>
      </p:sp>
      <p:pic>
        <p:nvPicPr>
          <p:cNvPr id="4" name="Planner says go while the robot has stopped" descr="Planner says go while the robot has sto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2361919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20624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still says "go". The robot has stopped. The monitor sees no progress.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bed: a humanoid robot in MuJoCo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robot in the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physics simulator.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failures on purpose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push, stall, drop, failed grasp.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the monitor </a:t>
            </a: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stages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4" name="G1 frame 1" descr="G1 fram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2651760" cy="1491429"/>
          </a:xfrm>
          <a:prstGeom prst="rect">
            <a:avLst/>
          </a:prstGeom>
        </p:spPr>
      </p:pic>
      <p:pic>
        <p:nvPicPr>
          <p:cNvPr id="5" name="G1 frame 2" descr="G1 fram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514600"/>
            <a:ext cx="2651760" cy="1491429"/>
          </a:xfrm>
          <a:prstGeom prst="rect">
            <a:avLst/>
          </a:prstGeom>
        </p:spPr>
      </p:pic>
      <p:pic>
        <p:nvPicPr>
          <p:cNvPr id="6" name="G1 frame 3" descr="G1 fram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514600"/>
            <a:ext cx="2651760" cy="1491429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→ pushed → fallen. The simulator knows the truth; the monitor does not.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bed: continuous MiniGrid + MAAOS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09728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pushing in a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MiniGrid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MAAOS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(Fouzi's multi-agent planner; I integrated it).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or two agents pushing together.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plan or deadlock: monitor + re-plan </a:t>
            </a:r>
            <a:r>
              <a:rPr lang="en-US" sz="15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every seed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free-text </a:t>
            </a: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judge: no gain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says "wrong", not where.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 on clean runs.</a:t>
            </a:r>
            <a:endParaRPr lang="en-US" sz="1500" dirty="0"/>
          </a:p>
        </p:txBody>
      </p:sp>
      <p:sp>
        <p:nvSpPr>
          <p:cNvPr id="4" name="cell"/>
          <p:cNvSpPr/>
          <p:nvPr/>
        </p:nvSpPr>
        <p:spPr>
          <a:xfrm>
            <a:off x="53949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5" name="cell"/>
          <p:cNvSpPr/>
          <p:nvPr/>
        </p:nvSpPr>
        <p:spPr>
          <a:xfrm>
            <a:off x="5394960" y="17373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6" name="cell"/>
          <p:cNvSpPr/>
          <p:nvPr/>
        </p:nvSpPr>
        <p:spPr>
          <a:xfrm>
            <a:off x="53949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7" name="cell"/>
          <p:cNvSpPr/>
          <p:nvPr/>
        </p:nvSpPr>
        <p:spPr>
          <a:xfrm>
            <a:off x="53949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8" name="cell"/>
          <p:cNvSpPr/>
          <p:nvPr/>
        </p:nvSpPr>
        <p:spPr>
          <a:xfrm>
            <a:off x="5394960" y="31089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9" name="cell"/>
          <p:cNvSpPr/>
          <p:nvPr/>
        </p:nvSpPr>
        <p:spPr>
          <a:xfrm>
            <a:off x="58521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0" name="cell"/>
          <p:cNvSpPr/>
          <p:nvPr/>
        </p:nvSpPr>
        <p:spPr>
          <a:xfrm>
            <a:off x="5852160" y="17373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1" name="cell"/>
          <p:cNvSpPr/>
          <p:nvPr/>
        </p:nvSpPr>
        <p:spPr>
          <a:xfrm>
            <a:off x="58521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2" name="cell"/>
          <p:cNvSpPr/>
          <p:nvPr/>
        </p:nvSpPr>
        <p:spPr>
          <a:xfrm>
            <a:off x="58521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3" name="cell"/>
          <p:cNvSpPr/>
          <p:nvPr/>
        </p:nvSpPr>
        <p:spPr>
          <a:xfrm>
            <a:off x="5852160" y="31089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4" name="cell"/>
          <p:cNvSpPr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5" name="cell"/>
          <p:cNvSpPr/>
          <p:nvPr/>
        </p:nvSpPr>
        <p:spPr>
          <a:xfrm>
            <a:off x="6309360" y="1737360"/>
            <a:ext cx="457200" cy="457200"/>
          </a:xfrm>
          <a:prstGeom prst="rect">
            <a:avLst/>
          </a:prstGeom>
          <a:solidFill>
            <a:srgbClr val="D98B78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6" name="cell"/>
          <p:cNvSpPr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7" name="cell"/>
          <p:cNvSpPr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8" name="cell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19" name="cell"/>
          <p:cNvSpPr/>
          <p:nvPr/>
        </p:nvSpPr>
        <p:spPr>
          <a:xfrm>
            <a:off x="67665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0" name="cell"/>
          <p:cNvSpPr/>
          <p:nvPr/>
        </p:nvSpPr>
        <p:spPr>
          <a:xfrm>
            <a:off x="6766560" y="1737360"/>
            <a:ext cx="457200" cy="457200"/>
          </a:xfrm>
          <a:prstGeom prst="rect">
            <a:avLst/>
          </a:prstGeom>
          <a:solidFill>
            <a:srgbClr val="D98B78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1" name="cell"/>
          <p:cNvSpPr/>
          <p:nvPr/>
        </p:nvSpPr>
        <p:spPr>
          <a:xfrm>
            <a:off x="67665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2" name="cell"/>
          <p:cNvSpPr/>
          <p:nvPr/>
        </p:nvSpPr>
        <p:spPr>
          <a:xfrm>
            <a:off x="67665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3" name="cell"/>
          <p:cNvSpPr/>
          <p:nvPr/>
        </p:nvSpPr>
        <p:spPr>
          <a:xfrm>
            <a:off x="6766560" y="31089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4" name="cell"/>
          <p:cNvSpPr/>
          <p:nvPr/>
        </p:nvSpPr>
        <p:spPr>
          <a:xfrm>
            <a:off x="72237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5" name="cell"/>
          <p:cNvSpPr/>
          <p:nvPr/>
        </p:nvSpPr>
        <p:spPr>
          <a:xfrm>
            <a:off x="7223760" y="17373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6" name="cell"/>
          <p:cNvSpPr/>
          <p:nvPr/>
        </p:nvSpPr>
        <p:spPr>
          <a:xfrm>
            <a:off x="72237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7" name="cell"/>
          <p:cNvSpPr/>
          <p:nvPr/>
        </p:nvSpPr>
        <p:spPr>
          <a:xfrm>
            <a:off x="72237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8" name="cell"/>
          <p:cNvSpPr/>
          <p:nvPr/>
        </p:nvSpPr>
        <p:spPr>
          <a:xfrm>
            <a:off x="7223760" y="31089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29" name="cell"/>
          <p:cNvSpPr/>
          <p:nvPr/>
        </p:nvSpPr>
        <p:spPr>
          <a:xfrm>
            <a:off x="7680960" y="12801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0" name="cell"/>
          <p:cNvSpPr/>
          <p:nvPr/>
        </p:nvSpPr>
        <p:spPr>
          <a:xfrm>
            <a:off x="7680960" y="17373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1" name="cell"/>
          <p:cNvSpPr/>
          <p:nvPr/>
        </p:nvSpPr>
        <p:spPr>
          <a:xfrm>
            <a:off x="76809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2" name="cell"/>
          <p:cNvSpPr/>
          <p:nvPr/>
        </p:nvSpPr>
        <p:spPr>
          <a:xfrm>
            <a:off x="76809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3" name="cell"/>
          <p:cNvSpPr/>
          <p:nvPr/>
        </p:nvSpPr>
        <p:spPr>
          <a:xfrm>
            <a:off x="7680960" y="3108960"/>
            <a:ext cx="457200" cy="457200"/>
          </a:xfrm>
          <a:prstGeom prst="rect">
            <a:avLst/>
          </a:prstGeom>
          <a:solidFill>
            <a:srgbClr val="D98B78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4" name="cell"/>
          <p:cNvSpPr/>
          <p:nvPr/>
        </p:nvSpPr>
        <p:spPr>
          <a:xfrm>
            <a:off x="8138160" y="1280160"/>
            <a:ext cx="457200" cy="457200"/>
          </a:xfrm>
          <a:prstGeom prst="rect">
            <a:avLst/>
          </a:prstGeom>
          <a:solidFill>
            <a:srgbClr val="8DB596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5" name="cell"/>
          <p:cNvSpPr/>
          <p:nvPr/>
        </p:nvSpPr>
        <p:spPr>
          <a:xfrm>
            <a:off x="8138160" y="17373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6" name="cell"/>
          <p:cNvSpPr/>
          <p:nvPr/>
        </p:nvSpPr>
        <p:spPr>
          <a:xfrm>
            <a:off x="8138160" y="21945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7" name="cell"/>
          <p:cNvSpPr/>
          <p:nvPr/>
        </p:nvSpPr>
        <p:spPr>
          <a:xfrm>
            <a:off x="8138160" y="2651760"/>
            <a:ext cx="457200" cy="457200"/>
          </a:xfrm>
          <a:prstGeom prst="rect">
            <a:avLst/>
          </a:prstGeom>
          <a:solidFill>
            <a:srgbClr val="EEF1F5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8" name="cell"/>
          <p:cNvSpPr/>
          <p:nvPr/>
        </p:nvSpPr>
        <p:spPr>
          <a:xfrm>
            <a:off x="8138160" y="3108960"/>
            <a:ext cx="457200" cy="457200"/>
          </a:xfrm>
          <a:prstGeom prst="rect">
            <a:avLst/>
          </a:prstGeom>
          <a:solidFill>
            <a:srgbClr val="D98B78"/>
          </a:solidFill>
          <a:ln w="6350">
            <a:solidFill>
              <a:srgbClr val="C5CCD6"/>
            </a:solidFill>
            <a:prstDash val="solid"/>
          </a:ln>
        </p:spPr>
      </p:sp>
      <p:sp>
        <p:nvSpPr>
          <p:cNvPr id="39" name="box"/>
          <p:cNvSpPr/>
          <p:nvPr/>
        </p:nvSpPr>
        <p:spPr>
          <a:xfrm>
            <a:off x="6839712" y="2724912"/>
            <a:ext cx="310896" cy="310896"/>
          </a:xfrm>
          <a:prstGeom prst="rect">
            <a:avLst/>
          </a:prstGeom>
          <a:solidFill>
            <a:srgbClr val="9C7A54"/>
          </a:solidFill>
          <a:ln w="12700">
            <a:solidFill>
              <a:srgbClr val="9C7A54"/>
            </a:solidFill>
            <a:prstDash val="solid"/>
          </a:ln>
        </p:spPr>
      </p:sp>
      <p:sp>
        <p:nvSpPr>
          <p:cNvPr id="40" name="agent A"/>
          <p:cNvSpPr/>
          <p:nvPr/>
        </p:nvSpPr>
        <p:spPr>
          <a:xfrm>
            <a:off x="5925312" y="2724912"/>
            <a:ext cx="310896" cy="310896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5852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agent B"/>
          <p:cNvSpPr/>
          <p:nvPr/>
        </p:nvSpPr>
        <p:spPr>
          <a:xfrm>
            <a:off x="5925312" y="3182112"/>
            <a:ext cx="310896" cy="310896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58521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4" name="arrow"/>
          <p:cNvSpPr/>
          <p:nvPr/>
        </p:nvSpPr>
        <p:spPr>
          <a:xfrm>
            <a:off x="6263640" y="2880360"/>
            <a:ext cx="548640" cy="0"/>
          </a:xfrm>
          <a:prstGeom prst="line">
            <a:avLst/>
          </a:prstGeom>
          <a:noFill/>
          <a:ln w="25400">
            <a:solidFill>
              <a:srgbClr val="1F5FAE"/>
            </a:solidFill>
            <a:prstDash val="solid"/>
            <a:tailEnd type="triangle"/>
          </a:ln>
        </p:spPr>
      </p:sp>
      <p:sp>
        <p:nvSpPr>
          <p:cNvPr id="45" name="text"/>
          <p:cNvSpPr txBox="1"/>
          <p:nvPr/>
        </p:nvSpPr>
        <p:spPr>
          <a:xfrm>
            <a:off x="53949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(A, B) push a heavy box to the goal (green) and avoid lava (red).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learned, and the live demo</a:t>
            </a:r>
            <a:endParaRPr lang="en-US" sz="2800" dirty="0"/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catch failures when they happen.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alarms help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time matters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come from words, so failures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planned for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caught too.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robot's own sensors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planner.</a:t>
            </a:r>
            <a:endParaRPr lang="en-US" sz="1600" dirty="0"/>
          </a:p>
        </p:txBody>
      </p:sp>
      <p:pic>
        <p:nvPicPr>
          <p:cNvPr id="4" name="Live demo page" descr="Live demo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257175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57200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one command: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8080:8080 ghcr.io/pinhas019/ltlmonitor-demo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references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[Runtime Verification for LTL and TLTL, Bauer, Leucker, Schallhart, 2011]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[NL2TL: Transforming Natural Languages to Temporal Logics using Large Language Models, Chen, Gandhi, Zhang, Fan,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[nl2spec: Interactively Translating Unstructured Natural Language to Temporal Logics with Large Language Models, Cosler, Hahn, Mendoza, et al.,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[AHA: A Vision-Language-Model for Detecting and Reasoning Over Failures in Robotic Manipulation, Duan et al., 2025]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[GinSign: Grounding Natural Language Into System Signatures for Temporal Logic Translation, English, Walker, Simon, Ewetz, 2025]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[ROSMonitoring: A Runtime Verification Framework for ROS, Ferrando, Cardoso, Fisher, Ancona, et al., 2020]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[NL2LTL: A Python Package for Converting Natural Language Instructions to LTL Formulas, Fuggitti, Chakraborti,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[Planning and Acting in Partially Observable Stochastic Domains, Kaelbling, Littman, Cassandra, 1998]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[Runtime Monitoring of Perception-Based Autonomous Systems via Embedding Temporal Logic, Kapoor, Hammer, Kapoor, et al., 2026]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(cont.)</a:t>
            </a:r>
            <a:endParaRPr lang="en-US" sz="2800" dirty="0"/>
          </a:p>
        </p:txBody>
      </p:sp>
      <p:sp>
        <p:nvSpPr>
          <p:cNvPr id="3" name="references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[FailSafe: Reasoning and Recovery from Failures in Vision-Language-Action Models, Lin, Duan, Fang, Fox, et al., 2025]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[Grounding Complex Natural Language Commands for Temporal Tasks in Unseen Environments, Liu, Yang, Idrees, Liang, et al.,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[REFLECT: Summarizing Robot Experiences for Failure Explanation and Correction, Liu, Bahety, Song,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[RoboCLIP: One Demonstration is Enough to Learn Robot Policies, Sontakke, Zhang, Arnold, et al., 2023]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[Runtime Verification with State Estimation, Stoller, Bartocci, Seyster, Grosu, Havelund, Smolka, Zadok, 2011]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[Reelay: Online Temporal Logic Monitoring Framework, Ulus, 2026]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[Learning Task Specifications from Demonstrations, Vazquez-Chanlatte, Jha, Tiwari, Ho, Seshia, 2018]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[RTAMT: Runtime Robustness Monitors with Application to CPS and Robotics, Yamaguchi, Hoxha, Ničković, 2024]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u="sng" dirty="0">
                <a:solidFill>
                  <a:srgbClr val="1F5FA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[Foresight: Failure Detection for Long-Horizon Robotic Manipulation with Action-Conditioned World Model Latents, Zhang, Lu, Wang, Kang, et al., 2026]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questions (1 of 2)</a:t>
            </a:r>
            <a:endParaRPr lang="en-US" sz="2800" dirty="0"/>
          </a:p>
        </p:txBody>
      </p:sp>
      <p:sp>
        <p:nvSpPr>
          <p:cNvPr id="3" name="qa"/>
          <p:cNvSpPr txBox="1"/>
          <p:nvPr/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"P1 is a tautology"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by design: the rule exists only with stages. LTL alone 14 s, stages 1 s; deadline 64% vs 36%.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"Flat is a straw man"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an expert could write it in LTL; flat is an ablation. The claim is who writes it: hand-written checks missed 40 of 40.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"The POMDP is decorative"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solve it. It predicted the deadline effect: 64/36 with a deadline, 82/84 without.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"Why trust the LLM?"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readable, frozen before runs. Gap: rules that run but are wrong (3 false alarms of 40). Fix: accept only after clean runs.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"Circular experiment?"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came from words, not the faults. Unplanned failures 40 → 0. I report misses: slowness, detours.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questions (2 of 2)</a:t>
            </a:r>
            <a:endParaRPr lang="en-US" sz="2800" dirty="0"/>
          </a:p>
        </p:txBody>
      </p:sp>
      <p:sp>
        <p:nvSpPr>
          <p:cNvPr id="3" name="qa"/>
          <p:cNvSpPr txBox="1"/>
          <p:nvPr/>
        </p:nvSpPr>
        <p:spPr>
          <a:xfrm>
            <a:off x="457200" y="1005840"/>
            <a:ext cx="8229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"Statistics?"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comes from the model; the runs confirm it, 20 of 20. If pushed: "clearly significant; it's in my backup notes."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"Nothing new"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an LLM-generated monitor with stages, on the robot's sensors. nl2spec stops at a formula; ROSMonitoring needs hand-written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"Who chose 0.3 / 0.5?"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LLM: "holding" is in the robot dictionary, once per robot. The LLM's own thresholds aren't calibrated yet.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"1 Hz is too slow"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reflex safety: the balance controller handles falls. Task decisions take seconds.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"Weakest part?"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 per skill from one LLM; next, several LLMs. The stages work even if a person writes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progress monitoring</dc:title>
  <dc:subject>PptxGenJS Presentation</dc:subject>
  <dc:creator>Pinhas Nehoray Aburmad</dc:creator>
  <cp:lastModifiedBy>Pinhas Nehoray Aburmad</cp:lastModifiedBy>
  <cp:revision>1</cp:revision>
  <dcterms:created xsi:type="dcterms:W3CDTF">2026-10-26T10:24:42Z</dcterms:created>
  <dcterms:modified xsi:type="dcterms:W3CDTF">2026-10-26T10:24:42Z</dcterms:modified>
</cp:coreProperties>
</file>